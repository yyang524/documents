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7160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AI FOR DOCUMENT REVIEW · A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11057839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0B0B0B"/>
                </a:solidFill>
                <a:latin typeface="Segoe UI"/>
              </a:rPr>
              <a:t>One Prompt vs. 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2514E"/>
                </a:solidFill>
                <a:latin typeface="Segoe UI"/>
              </a:rPr>
              <a:t>Using AI to find every material change between an IMF Policy Note and its Staff Report — fiscal and debt policy focus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160520"/>
            <a:ext cx="1554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Policy Note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~80 pp · pre-mission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4160520"/>
            <a:ext cx="1554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4281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Staff Report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~80 pp · post-negotiation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31136" y="4690872"/>
            <a:ext cx="969264" cy="0"/>
          </a:xfrm>
          <a:prstGeom prst="line">
            <a:avLst/>
          </a:prstGeom>
          <a:ln w="22225">
            <a:solidFill>
              <a:srgbClr val="52514E"/>
            </a:solidFill>
            <a:tailEnd type="triangl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138928" y="4325112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Goal: </a:t>
            </a:r>
            <a:r>
              <a:rPr sz="1400" b="0" i="0">
                <a:solidFill>
                  <a:srgbClr val="52514E"/>
                </a:solidFill>
                <a:latin typeface="Segoe UI"/>
              </a:rPr>
              <a:t>identify ALL changes with implications for the economic assessment, policy advice, or program design &amp; conditionality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Compare two dense IMF documents — and miss nothing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Policy Note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Staff's intended strategy, written pre-mission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~80 pages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Complex fiscal, program and DSA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64208"/>
            <a:ext cx="50292" cy="15636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356616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Staff Report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The post-negotiation outcome, presented to the Board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Different structure: Staff Appraisal, MEFP/LOI, program tables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Not simply “version 2” of the Policy Note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675888"/>
            <a:ext cx="50292" cy="156362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5968" y="1554480"/>
            <a:ext cx="7308799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What “ALL changes” means here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A78D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52514E"/>
                </a:solidFill>
                <a:latin typeface="Segoe UI"/>
              </a:rPr>
              <a:t>Deviations, additions and omissions — in text, tables, footnotes and annexes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A78D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52514E"/>
                </a:solidFill>
                <a:latin typeface="Segoe UI"/>
              </a:rPr>
              <a:t>Shifts in tone, strength, intensity and emphasis of the discussion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A78D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52514E"/>
                </a:solidFill>
                <a:latin typeface="Segoe UI"/>
              </a:rPr>
              <a:t>Anything that could affect the economic assessment, policy advice, or program design and conditionality (fiscal &amp; debt)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250" b="0" i="1">
                <a:solidFill>
                  <a:srgbClr val="898781"/>
                </a:solidFill>
                <a:latin typeface="Segoe UI"/>
              </a:rPr>
              <a:t>Read as an expert IMF economist would — not as a text diff.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623560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“ALL” makes this a </a:t>
            </a:r>
            <a:r>
              <a:rPr sz="1350" b="1" i="0">
                <a:solidFill>
                  <a:srgbClr val="FFFFFF"/>
                </a:solidFill>
                <a:latin typeface="Segoe UI"/>
              </a:rPr>
              <a:t>recall problem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, not a summarization problem — and exhaustive recall is exactly where LLMs are weakest.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Long documents play against how LLMs 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603504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69848" y="2103120"/>
            <a:ext cx="5120640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069848" y="3360420"/>
            <a:ext cx="5120640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69848" y="4617720"/>
            <a:ext cx="5120640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</p:cxnSp>
      <p:sp>
        <p:nvSpPr>
          <p:cNvPr id="9" name="Rectangle 8"/>
          <p:cNvSpPr/>
          <p:nvPr/>
        </p:nvSpPr>
        <p:spPr>
          <a:xfrm>
            <a:off x="2606040" y="2103120"/>
            <a:ext cx="2048256" cy="2514600"/>
          </a:xfrm>
          <a:prstGeom prst="rect">
            <a:avLst/>
          </a:prstGeom>
          <a:solidFill>
            <a:srgbClr val="FBE8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069848" y="2103120"/>
            <a:ext cx="5120640" cy="2212848"/>
          </a:xfrm>
          <a:custGeom>
            <a:avLst/>
            <a:gdLst/>
            <a:ahLst/>
            <a:cxnLst/>
            <a:rect l="l" t="t" r="r" b="b"/>
            <a:pathLst>
              <a:path w="5120640" h="2212848">
                <a:moveTo>
                  <a:pt x="0" y="0"/>
                </a:moveTo>
                <a:lnTo>
                  <a:pt x="85344" y="160572"/>
                </a:lnTo>
                <a:lnTo>
                  <a:pt x="170688" y="314126"/>
                </a:lnTo>
                <a:lnTo>
                  <a:pt x="256032" y="460770"/>
                </a:lnTo>
                <a:lnTo>
                  <a:pt x="341376" y="600616"/>
                </a:lnTo>
                <a:lnTo>
                  <a:pt x="426720" y="733774"/>
                </a:lnTo>
                <a:lnTo>
                  <a:pt x="512064" y="860355"/>
                </a:lnTo>
                <a:lnTo>
                  <a:pt x="597408" y="980469"/>
                </a:lnTo>
                <a:lnTo>
                  <a:pt x="682752" y="1094228"/>
                </a:lnTo>
                <a:lnTo>
                  <a:pt x="768096" y="1201742"/>
                </a:lnTo>
                <a:lnTo>
                  <a:pt x="853440" y="1303121"/>
                </a:lnTo>
                <a:lnTo>
                  <a:pt x="938784" y="1398476"/>
                </a:lnTo>
                <a:lnTo>
                  <a:pt x="1024128" y="1487918"/>
                </a:lnTo>
                <a:lnTo>
                  <a:pt x="1109472" y="1571558"/>
                </a:lnTo>
                <a:lnTo>
                  <a:pt x="1194816" y="1649506"/>
                </a:lnTo>
                <a:lnTo>
                  <a:pt x="1280160" y="1721872"/>
                </a:lnTo>
                <a:lnTo>
                  <a:pt x="1365504" y="1788767"/>
                </a:lnTo>
                <a:lnTo>
                  <a:pt x="1450848" y="1850303"/>
                </a:lnTo>
                <a:lnTo>
                  <a:pt x="1536192" y="1906589"/>
                </a:lnTo>
                <a:lnTo>
                  <a:pt x="1621536" y="1957737"/>
                </a:lnTo>
                <a:lnTo>
                  <a:pt x="1706880" y="2003856"/>
                </a:lnTo>
                <a:lnTo>
                  <a:pt x="1792224" y="2045058"/>
                </a:lnTo>
                <a:lnTo>
                  <a:pt x="1877568" y="2081454"/>
                </a:lnTo>
                <a:lnTo>
                  <a:pt x="1962912" y="2113153"/>
                </a:lnTo>
                <a:lnTo>
                  <a:pt x="2048256" y="2140266"/>
                </a:lnTo>
                <a:lnTo>
                  <a:pt x="2133600" y="2162905"/>
                </a:lnTo>
                <a:lnTo>
                  <a:pt x="2218944" y="2181179"/>
                </a:lnTo>
                <a:lnTo>
                  <a:pt x="2304288" y="2195200"/>
                </a:lnTo>
                <a:lnTo>
                  <a:pt x="2389632" y="2205078"/>
                </a:lnTo>
                <a:lnTo>
                  <a:pt x="2474976" y="2210924"/>
                </a:lnTo>
                <a:lnTo>
                  <a:pt x="2560320" y="2212848"/>
                </a:lnTo>
                <a:lnTo>
                  <a:pt x="2645664" y="2210960"/>
                </a:lnTo>
                <a:lnTo>
                  <a:pt x="2731008" y="2205373"/>
                </a:lnTo>
                <a:lnTo>
                  <a:pt x="2816352" y="2196196"/>
                </a:lnTo>
                <a:lnTo>
                  <a:pt x="2901696" y="2183540"/>
                </a:lnTo>
                <a:lnTo>
                  <a:pt x="2987040" y="2167515"/>
                </a:lnTo>
                <a:lnTo>
                  <a:pt x="3072384" y="2148232"/>
                </a:lnTo>
                <a:lnTo>
                  <a:pt x="3157728" y="2125803"/>
                </a:lnTo>
                <a:lnTo>
                  <a:pt x="3243072" y="2100336"/>
                </a:lnTo>
                <a:lnTo>
                  <a:pt x="3328416" y="2071944"/>
                </a:lnTo>
                <a:lnTo>
                  <a:pt x="3413760" y="2040737"/>
                </a:lnTo>
                <a:lnTo>
                  <a:pt x="3499104" y="2006825"/>
                </a:lnTo>
                <a:lnTo>
                  <a:pt x="3584448" y="1970319"/>
                </a:lnTo>
                <a:lnTo>
                  <a:pt x="3669792" y="1931330"/>
                </a:lnTo>
                <a:lnTo>
                  <a:pt x="3755136" y="1889968"/>
                </a:lnTo>
                <a:lnTo>
                  <a:pt x="3840480" y="1846345"/>
                </a:lnTo>
                <a:lnTo>
                  <a:pt x="3925824" y="1800569"/>
                </a:lnTo>
                <a:lnTo>
                  <a:pt x="4011168" y="1752753"/>
                </a:lnTo>
                <a:lnTo>
                  <a:pt x="4096512" y="1703007"/>
                </a:lnTo>
                <a:lnTo>
                  <a:pt x="4181856" y="1651442"/>
                </a:lnTo>
                <a:lnTo>
                  <a:pt x="4267200" y="1598168"/>
                </a:lnTo>
                <a:lnTo>
                  <a:pt x="4352544" y="1543295"/>
                </a:lnTo>
                <a:lnTo>
                  <a:pt x="4437888" y="1486935"/>
                </a:lnTo>
                <a:lnTo>
                  <a:pt x="4523232" y="1429198"/>
                </a:lnTo>
                <a:lnTo>
                  <a:pt x="4608576" y="1370195"/>
                </a:lnTo>
                <a:lnTo>
                  <a:pt x="4693920" y="1310036"/>
                </a:lnTo>
                <a:lnTo>
                  <a:pt x="4779264" y="1248833"/>
                </a:lnTo>
                <a:lnTo>
                  <a:pt x="4864608" y="1186695"/>
                </a:lnTo>
                <a:lnTo>
                  <a:pt x="4949952" y="1123733"/>
                </a:lnTo>
                <a:lnTo>
                  <a:pt x="5035296" y="1060058"/>
                </a:lnTo>
                <a:lnTo>
                  <a:pt x="5120640" y="995781"/>
                </a:lnTo>
              </a:path>
            </a:pathLst>
          </a:custGeom>
          <a:noFill/>
          <a:ln w="31750">
            <a:solidFill>
              <a:srgbClr val="2A78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69848" y="4617720"/>
            <a:ext cx="5120640" cy="0"/>
          </a:xfrm>
          <a:prstGeom prst="line">
            <a:avLst/>
          </a:prstGeom>
          <a:ln w="12700">
            <a:solidFill>
              <a:srgbClr val="898781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069848" y="2103120"/>
            <a:ext cx="0" cy="2514600"/>
          </a:xfrm>
          <a:prstGeom prst="line">
            <a:avLst/>
          </a:prstGeom>
          <a:ln w="12700">
            <a:solidFill>
              <a:srgbClr val="898781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612648" y="17190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Model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69087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Position in an 80-page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21214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04281"/>
                </a:solidFill>
                <a:latin typeface="Segoe UI"/>
              </a:rPr>
              <a:t>beginning: read closely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70662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04281"/>
                </a:solidFill>
                <a:latin typeface="Segoe UI"/>
              </a:rPr>
              <a:t>end: 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359152"/>
            <a:ext cx="204825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9E2A29"/>
                </a:solidFill>
                <a:latin typeface="Segoe UI"/>
              </a:rPr>
              <a:t>middle: skimmed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E2A29"/>
                </a:solidFill>
                <a:latin typeface="Segoe UI"/>
              </a:rPr>
              <a:t>fiscal tables · annexes · DSA live 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22008" y="1600200"/>
            <a:ext cx="4702759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Changes hide in the worst places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Tables, footnotes and annexes — the content LLMs handle least reliably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22008" y="1709928"/>
            <a:ext cx="50292" cy="896112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22008" y="2852928"/>
            <a:ext cx="4702759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Tone shifts are subtle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“Should” → “could” matters for policy; no mechanical diff detects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22008" y="2962656"/>
            <a:ext cx="50292" cy="896112"/>
          </a:xfrm>
          <a:prstGeom prst="rect">
            <a:avLst/>
          </a:prstGeom>
          <a:solidFill>
            <a:srgbClr val="8A5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22008" y="4105656"/>
            <a:ext cx="4702759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Fluent ≠ exhaustive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LLMs are built to answer convincingly; completeness must be engineered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22008" y="4215384"/>
            <a:ext cx="50292" cy="9326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468112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898781"/>
                </a:solidFill>
                <a:latin typeface="Segoe UI"/>
              </a:rPr>
              <a:t>Microsoft's own guidance: on long files Copilot may focus on the beginning and ignore later content — split long documents and review them in parts.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Copilot doesn’t “read” your PDF — it searches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975104" cy="118872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80-page PDF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DE9FA"/>
                </a:solidFill>
                <a:latin typeface="Segoe UI"/>
              </a:rPr>
              <a:t>attached to the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828800"/>
            <a:ext cx="1975104" cy="118872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Split into chunks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DE9FA"/>
                </a:solidFill>
                <a:latin typeface="Segoe UI"/>
              </a:rPr>
              <a:t>fragments, not the whole file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78608" y="2423160"/>
            <a:ext cx="219456" cy="0"/>
          </a:xfrm>
          <a:prstGeom prst="line">
            <a:avLst/>
          </a:prstGeom>
          <a:ln w="22225">
            <a:solidFill>
              <a:srgbClr val="52514E"/>
            </a:solidFill>
            <a:tailEnd type="triangle" w="med" len="med"/>
          </a:ln>
          <a:effectLst/>
        </p:spPr>
      </p:cxnSp>
      <p:sp>
        <p:nvSpPr>
          <p:cNvPr id="8" name="Can 7"/>
          <p:cNvSpPr/>
          <p:nvPr/>
        </p:nvSpPr>
        <p:spPr>
          <a:xfrm>
            <a:off x="5102352" y="1828800"/>
            <a:ext cx="1975104" cy="1188720"/>
          </a:xfrm>
          <a:prstGeom prst="can">
            <a:avLst/>
          </a:prstGeom>
          <a:solidFill>
            <a:srgbClr val="104281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Search index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DE9FA"/>
                </a:solidFill>
                <a:latin typeface="Segoe UI"/>
              </a:rPr>
              <a:t>chunks stored for retrieval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46320" y="2423160"/>
            <a:ext cx="219456" cy="0"/>
          </a:xfrm>
          <a:prstGeom prst="line">
            <a:avLst/>
          </a:prstGeom>
          <a:ln w="22225">
            <a:solidFill>
              <a:srgbClr val="52514E"/>
            </a:solidFill>
            <a:tailEnd type="triangle" w="med" len="med"/>
          </a:ln>
          <a:effectLst/>
        </p:spPr>
      </p:cxnSp>
      <p:sp>
        <p:nvSpPr>
          <p:cNvPr id="10" name="Rounded Rectangle 9"/>
          <p:cNvSpPr/>
          <p:nvPr/>
        </p:nvSpPr>
        <p:spPr>
          <a:xfrm>
            <a:off x="7370064" y="1828800"/>
            <a:ext cx="1975104" cy="1188720"/>
          </a:xfrm>
          <a:prstGeom prst="roundRect">
            <a:avLst>
              <a:gd name="adj" fmla="val 6000"/>
            </a:avLst>
          </a:prstGeom>
          <a:solidFill>
            <a:srgbClr val="104281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Question retrieves a few chunks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DE9FA"/>
                </a:solidFill>
                <a:latin typeface="Segoe UI"/>
              </a:rPr>
              <a:t>only the “most relevant” return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14032" y="2423160"/>
            <a:ext cx="219456" cy="0"/>
          </a:xfrm>
          <a:prstGeom prst="line">
            <a:avLst/>
          </a:prstGeom>
          <a:ln w="22225">
            <a:solidFill>
              <a:srgbClr val="52514E"/>
            </a:solidFill>
            <a:tailEnd type="triangle" w="med" len="med"/>
          </a:ln>
          <a:effectLst/>
        </p:spPr>
      </p:cxnSp>
      <p:sp>
        <p:nvSpPr>
          <p:cNvPr id="12" name="Rounded Rectangle 11"/>
          <p:cNvSpPr/>
          <p:nvPr/>
        </p:nvSpPr>
        <p:spPr>
          <a:xfrm>
            <a:off x="9637776" y="1828800"/>
            <a:ext cx="1975104" cy="1188720"/>
          </a:xfrm>
          <a:prstGeom prst="roundRect">
            <a:avLst>
              <a:gd name="adj" fmla="val 6000"/>
            </a:avLst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LLM answers from fragments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DDE9FA"/>
                </a:solidFill>
                <a:latin typeface="Segoe UI"/>
              </a:rPr>
              <a:t>segment-based, not end-to-end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81744" y="2423160"/>
            <a:ext cx="219456" cy="0"/>
          </a:xfrm>
          <a:prstGeom prst="line">
            <a:avLst/>
          </a:prstGeom>
          <a:ln w="22225">
            <a:solidFill>
              <a:srgbClr val="52514E"/>
            </a:solidFill>
            <a:tailEnd type="triangle" w="med" len="med"/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3154680" y="3182112"/>
            <a:ext cx="411480" cy="201168"/>
          </a:xfrm>
          <a:prstGeom prst="roundRect">
            <a:avLst/>
          </a:prstGeom>
          <a:solidFill>
            <a:srgbClr val="9EC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3182112"/>
            <a:ext cx="411480" cy="201168"/>
          </a:xfrm>
          <a:prstGeom prst="roundRect">
            <a:avLst/>
          </a:prstGeom>
          <a:solidFill>
            <a:srgbClr val="9EC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60520" y="3182112"/>
            <a:ext cx="411480" cy="201168"/>
          </a:xfrm>
          <a:prstGeom prst="roundRect">
            <a:avLst/>
          </a:prstGeom>
          <a:solidFill>
            <a:srgbClr val="9EC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70332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Advertised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Up to ~300 pages / 1.5 million words per 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13048"/>
            <a:ext cx="50292" cy="1014984"/>
          </a:xfrm>
          <a:prstGeom prst="rect">
            <a:avLst/>
          </a:prstGeom>
          <a:solidFill>
            <a:srgbClr val="0E6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0488" y="370332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Observed in practice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Text can silently drop from ~page 20–45, depending on density and app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Limits are undocumented and drift over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3813048"/>
            <a:ext cx="50292" cy="1014984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5257800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No end-to-end reading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→ a footnote that contradicts a claim 60 pages later is structurally invisible to the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UNDER THE HOOD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The obvious workaround fails: the chat window forgets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26464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The tempting fix for truncation — split the PDFs yourself and feed the pieces through one chat, then ask: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21408"/>
            <a:ext cx="841248" cy="548640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898781"/>
            </a:solidFill>
            <a:prstDash val="dash"/>
          </a:ln>
          <a:effectLst/>
        </p:spPr>
        <p:txBody>
          <a:bodyPr rtlCol="0" anchor="ctr" wrap="square" lIns="18288" rIns="18288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98781"/>
                </a:solidFill>
                <a:latin typeface="Segoe UI"/>
              </a:rPr>
              <a:t>chunk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91056" y="2121408"/>
            <a:ext cx="841248" cy="548640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898781"/>
            </a:solidFill>
            <a:prstDash val="dash"/>
          </a:ln>
          <a:effectLst/>
        </p:spPr>
        <p:txBody>
          <a:bodyPr rtlCol="0" anchor="ctr" wrap="square" lIns="18288" rIns="18288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98781"/>
                </a:solidFill>
                <a:latin typeface="Segoe UI"/>
              </a:rPr>
              <a:t>chunk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5184" y="2121408"/>
            <a:ext cx="841248" cy="548640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898781"/>
            </a:solidFill>
            <a:prstDash val="dash"/>
          </a:ln>
          <a:effectLst/>
        </p:spPr>
        <p:txBody>
          <a:bodyPr rtlCol="0" anchor="ctr" wrap="square" lIns="18288" rIns="18288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98781"/>
                </a:solidFill>
                <a:latin typeface="Segoe UI"/>
              </a:rPr>
              <a:t>chunk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2121408"/>
            <a:ext cx="841248" cy="5486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18288" rIns="18288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chunk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121408"/>
            <a:ext cx="841248" cy="5486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18288" rIns="18288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chunk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87568" y="2121408"/>
            <a:ext cx="841248" cy="5486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18288" rIns="18288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chunk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11696" y="2121408"/>
            <a:ext cx="841248" cy="5486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18288" rIns="18288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chunk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2121408"/>
            <a:ext cx="841248" cy="5486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square" lIns="18288" rIns="18288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chunk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2002536"/>
            <a:ext cx="5102352" cy="78638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104281"/>
            </a:solidFill>
            <a:prstDash val="dash"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1682496"/>
            <a:ext cx="51023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04281"/>
                </a:solidFill>
                <a:latin typeface="Segoe UI"/>
              </a:rPr>
              <a:t>conversation memory — fixed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83464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E2A29"/>
                </a:solidFill>
                <a:latin typeface="Segoe UI"/>
              </a:rPr>
              <a:t>evicted — no longer available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310128"/>
            <a:ext cx="4297680" cy="566928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0B0B0B"/>
                </a:solidFill>
                <a:latin typeface="Segoe UI"/>
              </a:rPr>
              <a:t>“Now list ALL cross-document inconsistencies.”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74336" y="3593592"/>
            <a:ext cx="621792" cy="0"/>
          </a:xfrm>
          <a:prstGeom prst="line">
            <a:avLst/>
          </a:prstGeom>
          <a:ln w="22225">
            <a:solidFill>
              <a:srgbClr val="52514E"/>
            </a:solidFill>
            <a:tailEnd type="triangle" w="med" len="med"/>
          </a:ln>
          <a:effectLst/>
        </p:spPr>
      </p:cxnSp>
      <p:sp>
        <p:nvSpPr>
          <p:cNvPr id="19" name="Rounded Rectangle 18"/>
          <p:cNvSpPr/>
          <p:nvPr/>
        </p:nvSpPr>
        <p:spPr>
          <a:xfrm>
            <a:off x="5705856" y="3310128"/>
            <a:ext cx="5918911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34948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B0B0B"/>
                </a:solidFill>
                <a:latin typeface="Segoe UI"/>
              </a:rPr>
              <a:t>Fluent, confident answer — built only on chunks 4–8. </a:t>
            </a:r>
            <a:r>
              <a:rPr sz="1250" b="1" i="0">
                <a:solidFill>
                  <a:srgbClr val="9E2A29"/>
                </a:solidFill>
                <a:latin typeface="Segoe UI"/>
              </a:rPr>
              <a:t>Nothing signals that chunks 1–3 are gone.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24528"/>
            <a:ext cx="539496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Not the attention problem from earlier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Attention = how unevenly the model reads what is in front of it. Memory = whether earlier content is in front of it at all. Fixing one doesn’t fix the other.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334256"/>
            <a:ext cx="50292" cy="987552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0488" y="4224528"/>
            <a:ext cx="539496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Everything you accumulate decays too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Your findings list, coverage checklist and “do not skip” rules live in the same finite window — and one drifted or dead session loses all of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4334256"/>
            <a:ext cx="50292" cy="987552"/>
          </a:xfrm>
          <a:prstGeom prst="rect">
            <a:avLst/>
          </a:prstGeom>
          <a:solidFill>
            <a:srgbClr val="9E2A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5650992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If state can’t live in the conversation, it must live outside it — in files.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That constraint drives the whole design of Approach 2.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Five failure modes that matter for this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2743200" cy="384048"/>
          </a:xfrm>
          <a:prstGeom prst="roundRect">
            <a:avLst>
              <a:gd name="adj" fmla="val 12000"/>
            </a:avLst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Failure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8" y="1572768"/>
            <a:ext cx="3429000" cy="384048"/>
          </a:xfrm>
          <a:prstGeom prst="roundRect">
            <a:avLst>
              <a:gd name="adj" fmla="val 12000"/>
            </a:avLst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What happens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13448" y="1572768"/>
            <a:ext cx="4608576" cy="384048"/>
          </a:xfrm>
          <a:prstGeom prst="roundRect">
            <a:avLst>
              <a:gd name="adj" fmla="val 12000"/>
            </a:avLst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29968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Hallucination</a:t>
            </a:r>
            <a:r>
              <a:rPr sz="900" b="1" i="0">
                <a:solidFill>
                  <a:srgbClr val="4A3AA7"/>
                </a:solidFill>
                <a:latin typeface="Segoe UI"/>
              </a:rPr>
              <a:t>  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2029968"/>
            <a:ext cx="34290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Claims a change or omission that isn’t in either document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13448" y="2029968"/>
            <a:ext cx="4608576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“No evidence, no finding” — every finding must quote both texts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98064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Silent truncation</a:t>
            </a:r>
            <a:r>
              <a:rPr sz="900" b="1" i="0">
                <a:solidFill>
                  <a:srgbClr val="8A5D00"/>
                </a:solidFill>
                <a:latin typeface="Segoe UI"/>
              </a:rPr>
              <a:t>  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2798064"/>
            <a:ext cx="3429000" cy="713232"/>
          </a:xfrm>
          <a:prstGeom prst="roundRect">
            <a:avLst>
              <a:gd name="adj" fmla="val 10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Parts of the file never reach the model at 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13448" y="2798064"/>
            <a:ext cx="4608576" cy="713232"/>
          </a:xfrm>
          <a:prstGeom prst="roundRect">
            <a:avLst>
              <a:gd name="adj" fmla="val 10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Controlled sections + coverage checklist, confirmed manually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66160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Missed material changes</a:t>
            </a:r>
            <a:r>
              <a:rPr sz="900" b="1" i="0">
                <a:solidFill>
                  <a:srgbClr val="9E2A29"/>
                </a:solidFill>
                <a:latin typeface="Segoe UI"/>
              </a:rPr>
              <a:t>   BOTH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7288" y="3566160"/>
            <a:ext cx="34290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Subtle edits in middle sections, tables, annexes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13448" y="3566160"/>
            <a:ext cx="4608576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Batching + global reconciliation + final sweep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34256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Run-to-run inconsistency</a:t>
            </a:r>
            <a:r>
              <a:rPr sz="900" b="1" i="0">
                <a:solidFill>
                  <a:srgbClr val="9E2A29"/>
                </a:solidFill>
                <a:latin typeface="Segoe UI"/>
              </a:rPr>
              <a:t>   BOTH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7288" y="4334256"/>
            <a:ext cx="3429000" cy="713232"/>
          </a:xfrm>
          <a:prstGeom prst="roundRect">
            <a:avLst>
              <a:gd name="adj" fmla="val 10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Same prompt → different findings each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13448" y="4334256"/>
            <a:ext cx="4608576" cy="713232"/>
          </a:xfrm>
          <a:prstGeom prst="roundRect">
            <a:avLst>
              <a:gd name="adj" fmla="val 10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Repeat runs; track stability; log prompts, versions, 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02352"/>
            <a:ext cx="27432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Tables &amp; charts</a:t>
            </a:r>
            <a:r>
              <a:rPr sz="900" b="1" i="0">
                <a:solidFill>
                  <a:srgbClr val="8A5D00"/>
                </a:solidFill>
                <a:latin typeface="Segoe UI"/>
              </a:rPr>
              <a:t>   PLATFORM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47288" y="5102352"/>
            <a:ext cx="342900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Complex fiscal / DSA layouts parsed poorly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13448" y="5102352"/>
            <a:ext cx="4608576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Extract tables separately; scripted, deterministic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Source of the risk:  </a:t>
            </a:r>
            <a:r>
              <a:rPr sz="1050" b="1" i="0">
                <a:solidFill>
                  <a:srgbClr val="4A3AA7"/>
                </a:solidFill>
                <a:latin typeface="Segoe UI"/>
              </a:rPr>
              <a:t>MODEL</a:t>
            </a:r>
            <a:r>
              <a:rPr sz="1050" b="0" i="0">
                <a:solidFill>
                  <a:srgbClr val="898781"/>
                </a:solidFill>
                <a:latin typeface="Segoe UI"/>
              </a:rPr>
              <a:t> = inherent to LLMs   </a:t>
            </a:r>
            <a:r>
              <a:rPr sz="1050" b="1" i="0">
                <a:solidFill>
                  <a:srgbClr val="8A5D00"/>
                </a:solidFill>
                <a:latin typeface="Segoe UI"/>
              </a:rPr>
              <a:t>PLATFORM</a:t>
            </a:r>
            <a:r>
              <a:rPr sz="1050" b="0" i="0">
                <a:solidFill>
                  <a:srgbClr val="898781"/>
                </a:solidFill>
                <a:latin typeface="Segoe UI"/>
              </a:rPr>
              <a:t> = Copilot product layer   </a:t>
            </a:r>
            <a:r>
              <a:rPr sz="1050" b="1" i="0">
                <a:solidFill>
                  <a:srgbClr val="9E2A29"/>
                </a:solidFill>
                <a:latin typeface="Segoe UI"/>
              </a:rPr>
              <a:t>BOTH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QUALITY-CONTROL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Treat it like model validation, not magic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Banks already run this playbook for credit-scoring models: repeat testing for precision and recall, then human sign-off.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0312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A100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False positive</a:t>
            </a:r>
            <a:r>
              <a:rPr sz="1200" b="1" i="0">
                <a:solidFill>
                  <a:srgbClr val="8A5D00"/>
                </a:solidFill>
                <a:latin typeface="Segoe UI"/>
              </a:rPr>
              <a:t>   ·  Type 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AI flags a change that isn’t actually material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Cost:  </a:t>
            </a:r>
            <a:r>
              <a:rPr sz="1350" b="0" i="0">
                <a:solidFill>
                  <a:srgbClr val="52514E"/>
                </a:solidFill>
                <a:latin typeface="Segoe UI"/>
              </a:rPr>
              <a:t>reviewer time to dismiss 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898781"/>
                </a:solidFill>
                <a:latin typeface="Segoe UI"/>
              </a:rPr>
              <a:t>Annoying — but cheap and visible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10312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34948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0B0B"/>
                </a:solidFill>
                <a:latin typeface="Segoe UI"/>
              </a:rPr>
              <a:t>False negative</a:t>
            </a:r>
            <a:r>
              <a:rPr sz="1200" b="1" i="0">
                <a:solidFill>
                  <a:srgbClr val="9E2A29"/>
                </a:solidFill>
                <a:latin typeface="Segoe UI"/>
              </a:rPr>
              <a:t>   ·  Type II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AI misses a material change entirely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Cost:  </a:t>
            </a:r>
            <a:r>
              <a:rPr sz="1350" b="0" i="0">
                <a:solidFill>
                  <a:srgbClr val="52514E"/>
                </a:solidFill>
                <a:latin typeface="Segoe UI"/>
              </a:rPr>
              <a:t>flawed assessment, wrong policy advice, reputational damage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9E2A29"/>
                </a:solidFill>
                <a:latin typeface="Segoe UI"/>
              </a:rPr>
              <a:t>Dangerous — silent and expensive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846320"/>
            <a:ext cx="11057839" cy="777240"/>
          </a:xfrm>
          <a:prstGeom prst="roundRect">
            <a:avLst>
              <a:gd name="adj" fmla="val 6000"/>
            </a:avLst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Design choice: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tune the AI first pass for high recall (accept extra false positives) → human expert review restores precision.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APPROACH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One mega-prompt in Copilot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4160520" cy="3291840"/>
          </a:xfrm>
          <a:prstGeom prst="roundRect">
            <a:avLst>
              <a:gd name="adj" fmla="val 6000"/>
            </a:avLst>
          </a:prstGeom>
          <a:solidFill>
            <a:srgbClr val="F4F4F1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050" b="1" i="0">
                <a:solidFill>
                  <a:srgbClr val="898781"/>
                </a:solidFill>
                <a:latin typeface="Segoe UI"/>
              </a:rPr>
              <a:t>THE PROMPT (condensed)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B0B0B"/>
                </a:solidFill>
                <a:latin typeface="Segoe UI"/>
              </a:rPr>
              <a:t>“As an expert IMF economist, compare the Policy Note and the Staff Report…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0B0B0B"/>
                </a:solidFill>
                <a:latin typeface="Segoe UI"/>
              </a:rPr>
              <a:t>…identify ALL changes — deviations, additions, omissions, tone, strength, emphasis…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1">
                <a:solidFill>
                  <a:srgbClr val="0B0B0B"/>
                </a:solidFill>
                <a:latin typeface="Segoe UI"/>
              </a:rPr>
              <a:t>…extract everything, then prove 100% coverage.”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898781"/>
                </a:solidFill>
                <a:latin typeface="Segoe UI"/>
              </a:rPr>
              <a:t>One message, both PDFs attached. Minutes to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7488" y="1517904"/>
            <a:ext cx="65772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0B0B"/>
                </a:solidFill>
                <a:latin typeface="Segoe UI"/>
              </a:rPr>
              <a:t>Why “prove 100% coverage” cannot be honored</a:t>
            </a:r>
          </a:p>
        </p:txBody>
      </p:sp>
      <p:sp>
        <p:nvSpPr>
          <p:cNvPr id="7" name="Oval 6"/>
          <p:cNvSpPr/>
          <p:nvPr/>
        </p:nvSpPr>
        <p:spPr>
          <a:xfrm>
            <a:off x="5047488" y="2048256"/>
            <a:ext cx="384048" cy="38404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4416" y="1938528"/>
            <a:ext cx="6010351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Output budget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A reply has a hard length cap. The model silently compresses: 3 table rows “for illustration”, “similar revisions elsewhere…”</a:t>
            </a:r>
          </a:p>
        </p:txBody>
      </p:sp>
      <p:sp>
        <p:nvSpPr>
          <p:cNvPr id="9" name="Oval 8"/>
          <p:cNvSpPr/>
          <p:nvPr/>
        </p:nvSpPr>
        <p:spPr>
          <a:xfrm>
            <a:off x="5047488" y="3054096"/>
            <a:ext cx="384048" cy="38404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4416" y="2944368"/>
            <a:ext cx="6010351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Retrieval is query-driven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A diffuse mega-prompt makes a weak search query — entire tables never enter the model’s view at all</a:t>
            </a:r>
          </a:p>
        </p:txBody>
      </p:sp>
      <p:sp>
        <p:nvSpPr>
          <p:cNvPr id="11" name="Oval 10"/>
          <p:cNvSpPr/>
          <p:nvPr/>
        </p:nvSpPr>
        <p:spPr>
          <a:xfrm>
            <a:off x="5047488" y="4059936"/>
            <a:ext cx="384048" cy="38404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4416" y="3950208"/>
            <a:ext cx="6010351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Instruction decay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“Do not skip anything” fades as the context grows; hedges and shortcuts creep back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66360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9E2A29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Result: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a fluent, confident memo built on the most salient ~30% of the documents — a smart skimmer with no audit trail.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APPROACH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A pipeline that forces coverage</a:t>
            </a:r>
          </a:p>
        </p:txBody>
      </p:sp>
      <p:sp>
        <p:nvSpPr>
          <p:cNvPr id="5" name="Chevron 4"/>
          <p:cNvSpPr/>
          <p:nvPr/>
        </p:nvSpPr>
        <p:spPr>
          <a:xfrm>
            <a:off x="566928" y="1783080"/>
            <a:ext cx="2084831" cy="777240"/>
          </a:xfrm>
          <a:prstGeom prst="chevron">
            <a:avLst/>
          </a:prstGeom>
          <a:solidFill>
            <a:srgbClr val="86B6EF"/>
          </a:solidFill>
          <a:ln>
            <a:noFill/>
          </a:ln>
          <a:effectLst/>
        </p:spPr>
        <p:txBody>
          <a:bodyPr rtlCol="0" anchor="ctr" wrap="none" lIns="128016" r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1.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724912"/>
            <a:ext cx="1581911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Ledger of every text unit: sections, tables, footnotes, annexes</a:t>
            </a:r>
          </a:p>
        </p:txBody>
      </p:sp>
      <p:sp>
        <p:nvSpPr>
          <p:cNvPr id="7" name="Chevron 6"/>
          <p:cNvSpPr/>
          <p:nvPr/>
        </p:nvSpPr>
        <p:spPr>
          <a:xfrm>
            <a:off x="2368295" y="1783080"/>
            <a:ext cx="2084831" cy="777240"/>
          </a:xfrm>
          <a:prstGeom prst="chevron">
            <a:avLst/>
          </a:prstGeom>
          <a:solidFill>
            <a:srgbClr val="5598E7"/>
          </a:solidFill>
          <a:ln>
            <a:noFill/>
          </a:ln>
          <a:effectLst/>
        </p:spPr>
        <p:txBody>
          <a:bodyPr rtlCol="0" anchor="ctr" wrap="none" lIns="329184" r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2. Chunk &amp; batch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023" y="2724912"/>
            <a:ext cx="1581911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Controlled sections sized to what the model reliably handles</a:t>
            </a:r>
          </a:p>
        </p:txBody>
      </p:sp>
      <p:sp>
        <p:nvSpPr>
          <p:cNvPr id="9" name="Chevron 8"/>
          <p:cNvSpPr/>
          <p:nvPr/>
        </p:nvSpPr>
        <p:spPr>
          <a:xfrm>
            <a:off x="4169662" y="1783080"/>
            <a:ext cx="2084831" cy="777240"/>
          </a:xfrm>
          <a:prstGeom prst="chevron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 wrap="none" lIns="329184" r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3. 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0" y="2724912"/>
            <a:ext cx="1581911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Thematic crosswalk PN ↔ SR — topics, not heading order</a:t>
            </a:r>
          </a:p>
        </p:txBody>
      </p:sp>
      <p:sp>
        <p:nvSpPr>
          <p:cNvPr id="11" name="Chevron 10"/>
          <p:cNvSpPr/>
          <p:nvPr/>
        </p:nvSpPr>
        <p:spPr>
          <a:xfrm>
            <a:off x="5971029" y="1783080"/>
            <a:ext cx="2084831" cy="777240"/>
          </a:xfrm>
          <a:prstGeom prst="chevron">
            <a:avLst/>
          </a:prstGeom>
          <a:solidFill>
            <a:srgbClr val="1C5CAB"/>
          </a:solidFill>
          <a:ln>
            <a:noFill/>
          </a:ln>
          <a:effectLst/>
        </p:spPr>
        <p:txBody>
          <a:bodyPr rtlCol="0" anchor="ctr" wrap="none" lIns="329184" r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4. 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7" y="2724912"/>
            <a:ext cx="1581911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Findings per batch, each backed by verbatim quotes from both docs</a:t>
            </a:r>
          </a:p>
        </p:txBody>
      </p:sp>
      <p:sp>
        <p:nvSpPr>
          <p:cNvPr id="13" name="Chevron 12"/>
          <p:cNvSpPr/>
          <p:nvPr/>
        </p:nvSpPr>
        <p:spPr>
          <a:xfrm>
            <a:off x="7772396" y="1783080"/>
            <a:ext cx="2084831" cy="777240"/>
          </a:xfrm>
          <a:prstGeom prst="chevron">
            <a:avLst/>
          </a:prstGeom>
          <a:solidFill>
            <a:srgbClr val="104281"/>
          </a:solidFill>
          <a:ln>
            <a:noFill/>
          </a:ln>
          <a:effectLst/>
        </p:spPr>
        <p:txBody>
          <a:bodyPr rtlCol="0" anchor="ctr" wrap="none" lIns="329184" r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5. Reconcile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4" y="2724912"/>
            <a:ext cx="1581911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Document-wide matching: footnote ↔ main text ↔ annex ↔ table note</a:t>
            </a:r>
          </a:p>
        </p:txBody>
      </p:sp>
      <p:sp>
        <p:nvSpPr>
          <p:cNvPr id="15" name="Chevron 14"/>
          <p:cNvSpPr/>
          <p:nvPr/>
        </p:nvSpPr>
        <p:spPr>
          <a:xfrm>
            <a:off x="9573763" y="1783080"/>
            <a:ext cx="2084831" cy="777240"/>
          </a:xfrm>
          <a:prstGeom prst="chevron">
            <a:avLst/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none" lIns="329184" rIns="18288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6. 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3491" y="2724912"/>
            <a:ext cx="1581911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Scripted quote checks; manifest closed; limitations stated up front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6052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Between every stage: a file on disk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72000"/>
            <a:ext cx="16276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86B6EF"/>
            </a:solidFill>
          </a:ln>
          <a:effectLst/>
        </p:spPr>
        <p:txBody>
          <a:bodyPr rtlCol="0" anchor="ctr" wrap="square" lIns="45720" rIns="45720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2514E"/>
                </a:solidFill>
                <a:latin typeface="Segoe UI"/>
              </a:rPr>
              <a:t>inventory.csv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50592" y="4572000"/>
            <a:ext cx="16276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5598E7"/>
            </a:solidFill>
          </a:ln>
          <a:effectLst/>
        </p:spPr>
        <p:txBody>
          <a:bodyPr rtlCol="0" anchor="ctr" wrap="square" lIns="45720" rIns="45720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2514E"/>
                </a:solidFill>
                <a:latin typeface="Segoe UI"/>
              </a:rPr>
              <a:t>batches/*.md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21992" y="4800600"/>
            <a:ext cx="210312" cy="0"/>
          </a:xfrm>
          <a:prstGeom prst="line">
            <a:avLst/>
          </a:prstGeom>
          <a:ln w="15875">
            <a:solidFill>
              <a:srgbClr val="898781"/>
            </a:solidFill>
            <a:tailEnd type="triangle" w="med" len="med"/>
          </a:ln>
          <a:effectLst/>
        </p:spPr>
      </p:cxnSp>
      <p:sp>
        <p:nvSpPr>
          <p:cNvPr id="21" name="Rounded Rectangle 20"/>
          <p:cNvSpPr/>
          <p:nvPr/>
        </p:nvSpPr>
        <p:spPr>
          <a:xfrm>
            <a:off x="4334256" y="4572000"/>
            <a:ext cx="16276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A78D6"/>
            </a:solidFill>
          </a:ln>
          <a:effectLst/>
        </p:spPr>
        <p:txBody>
          <a:bodyPr rtlCol="0" anchor="ctr" wrap="square" lIns="45720" rIns="45720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2514E"/>
                </a:solidFill>
                <a:latin typeface="Segoe UI"/>
              </a:rPr>
              <a:t>crosswalk.csv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05656" y="4800600"/>
            <a:ext cx="210312" cy="0"/>
          </a:xfrm>
          <a:prstGeom prst="line">
            <a:avLst/>
          </a:prstGeom>
          <a:ln w="15875">
            <a:solidFill>
              <a:srgbClr val="898781"/>
            </a:solidFill>
            <a:tailEnd type="triangle" w="med" len="med"/>
          </a:ln>
          <a:effectLst/>
        </p:spPr>
      </p:cxnSp>
      <p:sp>
        <p:nvSpPr>
          <p:cNvPr id="23" name="Rounded Rectangle 22"/>
          <p:cNvSpPr/>
          <p:nvPr/>
        </p:nvSpPr>
        <p:spPr>
          <a:xfrm>
            <a:off x="6217920" y="4572000"/>
            <a:ext cx="16276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C5CAB"/>
            </a:solidFill>
          </a:ln>
          <a:effectLst/>
        </p:spPr>
        <p:txBody>
          <a:bodyPr rtlCol="0" anchor="ctr" wrap="square" lIns="45720" rIns="45720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2514E"/>
                </a:solidFill>
                <a:latin typeface="Segoe UI"/>
              </a:rPr>
              <a:t>findings/*.md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4800600"/>
            <a:ext cx="210312" cy="0"/>
          </a:xfrm>
          <a:prstGeom prst="line">
            <a:avLst/>
          </a:prstGeom>
          <a:ln w="15875">
            <a:solidFill>
              <a:srgbClr val="898781"/>
            </a:solidFill>
            <a:tailEnd type="triangle" w="med" len="med"/>
          </a:ln>
          <a:effectLst/>
        </p:spPr>
      </p:cxnSp>
      <p:sp>
        <p:nvSpPr>
          <p:cNvPr id="25" name="Rounded Rectangle 24"/>
          <p:cNvSpPr/>
          <p:nvPr/>
        </p:nvSpPr>
        <p:spPr>
          <a:xfrm>
            <a:off x="8101584" y="4572000"/>
            <a:ext cx="16276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04281"/>
            </a:solidFill>
          </a:ln>
          <a:effectLst/>
        </p:spPr>
        <p:txBody>
          <a:bodyPr rtlCol="0" anchor="ctr" wrap="square" lIns="45720" rIns="45720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2514E"/>
                </a:solidFill>
                <a:latin typeface="Segoe UI"/>
              </a:rPr>
              <a:t>recon_report.md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72984" y="4800600"/>
            <a:ext cx="210312" cy="0"/>
          </a:xfrm>
          <a:prstGeom prst="line">
            <a:avLst/>
          </a:prstGeom>
          <a:ln w="15875">
            <a:solidFill>
              <a:srgbClr val="898781"/>
            </a:solidFill>
            <a:tailEnd type="triangle" w="med" len="med"/>
          </a:ln>
          <a:effectLst/>
        </p:spPr>
      </p:cxnSp>
      <p:sp>
        <p:nvSpPr>
          <p:cNvPr id="27" name="Rounded Rectangle 26"/>
          <p:cNvSpPr/>
          <p:nvPr/>
        </p:nvSpPr>
        <p:spPr>
          <a:xfrm>
            <a:off x="9985248" y="4572000"/>
            <a:ext cx="162763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D366B"/>
            </a:solidFill>
          </a:ln>
          <a:effectLst/>
        </p:spPr>
        <p:txBody>
          <a:bodyPr rtlCol="0" anchor="ctr" wrap="square" lIns="45720" rIns="45720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2514E"/>
                </a:solidFill>
                <a:latin typeface="Segoe UI"/>
              </a:rPr>
              <a:t>manifest: all DONE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56648" y="4800600"/>
            <a:ext cx="210312" cy="0"/>
          </a:xfrm>
          <a:prstGeom prst="line">
            <a:avLst/>
          </a:prstGeom>
          <a:ln w="15875">
            <a:solidFill>
              <a:srgbClr val="898781"/>
            </a:solidFill>
            <a:tailEnd type="triangle" w="med" len="med"/>
          </a:ln>
          <a:effectLst/>
        </p:spPr>
      </p:cxnSp>
      <p:sp>
        <p:nvSpPr>
          <p:cNvPr id="29" name="Rounded Rectangle 28"/>
          <p:cNvSpPr/>
          <p:nvPr/>
        </p:nvSpPr>
        <p:spPr>
          <a:xfrm>
            <a:off x="566928" y="5440680"/>
            <a:ext cx="11057839" cy="566928"/>
          </a:xfrm>
          <a:prstGeom prst="roundRect">
            <a:avLst>
              <a:gd name="adj" fmla="val 6000"/>
            </a:avLst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Files carry the state, not the conversation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— each stage starts a fresh, small chat context; a crashed or drifting session costs one step, not the whole run.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Why the pipeline looks like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1.  Files are the memory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Every intermediate product is written to disk. New chat per stage — the files carry the state, not the conversation window.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55648"/>
            <a:ext cx="50292" cy="17465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64592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2.  Thematic crosswalk, not structural alignment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A Policy Note and a Staff Report are not two versions of one document. Align by topic; coverage asymmetries are findings, not noise.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1755648"/>
            <a:ext cx="50292" cy="1746504"/>
          </a:xfrm>
          <a:prstGeom prst="rect">
            <a:avLst/>
          </a:prstGeom>
          <a:solidFill>
            <a:srgbClr val="0E6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379476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3.  Determinism wherever possible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Section splitting, number extraction, pairing math, quote verification run as scripts with checkable output — model judgment only where it’s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904488"/>
            <a:ext cx="50292" cy="1746504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0488" y="379476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4.  Completeness by manifest, not by whim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A CSV lists every topic pair; every row must reach DONE; a final sweep pass catches anything the crosswalk missed.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3904488"/>
            <a:ext cx="50292" cy="1746504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WHY BOTH APPROACHES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Same engine underneath — different guarantees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70048" y="1572768"/>
            <a:ext cx="4343400" cy="411480"/>
          </a:xfrm>
          <a:prstGeom prst="roundRect">
            <a:avLst>
              <a:gd name="adj" fmla="val 12000"/>
            </a:avLst>
          </a:prstGeom>
          <a:solidFill>
            <a:srgbClr val="52514E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Copilot Chat (mega-prompt)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50608" y="1572768"/>
            <a:ext cx="4471416" cy="411480"/>
          </a:xfrm>
          <a:prstGeom prst="roundRect">
            <a:avLst>
              <a:gd name="adj" fmla="val 12000"/>
            </a:avLst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Structured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75688"/>
            <a:ext cx="1965960" cy="65836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0048" y="2075688"/>
            <a:ext cx="43434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Retrieve → analyze → synthesize, hidden and opportunistic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2075688"/>
            <a:ext cx="4471416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The same steps — explicit, forced, logged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88920"/>
            <a:ext cx="1965960" cy="65836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2788920"/>
            <a:ext cx="4343400" cy="658368"/>
          </a:xfrm>
          <a:prstGeom prst="roundRect">
            <a:avLst>
              <a:gd name="adj" fmla="val 10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Unknown; whatever retrieval happened to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2788920"/>
            <a:ext cx="4471416" cy="658368"/>
          </a:xfrm>
          <a:prstGeom prst="roundRect">
            <a:avLst>
              <a:gd name="adj" fmla="val 10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Manifest: every section pair visited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02152"/>
            <a:ext cx="1965960" cy="65836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70048" y="3502152"/>
            <a:ext cx="43434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Fluent prose; quotes unverifiable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0608" y="3502152"/>
            <a:ext cx="4471416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Verbatim quotes, verified by 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5384"/>
            <a:ext cx="1965960" cy="65836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Reproducibility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70048" y="4215384"/>
            <a:ext cx="4343400" cy="658368"/>
          </a:xfrm>
          <a:prstGeom prst="roundRect">
            <a:avLst>
              <a:gd name="adj" fmla="val 10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Varies run to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0608" y="4215384"/>
            <a:ext cx="4471416" cy="658368"/>
          </a:xfrm>
          <a:prstGeom prst="roundRect">
            <a:avLst>
              <a:gd name="adj" fmla="val 10000"/>
            </a:avLst>
          </a:prstGeom>
          <a:solidFill>
            <a:srgbClr val="F4F4F1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Logged prompts, inputs and outputs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928616"/>
            <a:ext cx="1965960" cy="65836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Effort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70048" y="4928616"/>
            <a:ext cx="43434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Minutes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0608" y="4928616"/>
            <a:ext cx="4471416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Hours — and reusable for the next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806440"/>
            <a:ext cx="11057839" cy="502920"/>
          </a:xfrm>
          <a:prstGeom prst="roundRect">
            <a:avLst>
              <a:gd name="adj" fmla="val 6000"/>
            </a:avLst>
          </a:prstGeom>
          <a:solidFill>
            <a:srgbClr val="0D366B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The pipeline turns an opaque, convenience-oriented process into a controlled, auditable QC workflow.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HONEST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What the pipeline still doesn’t guarantee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Coverage ≠ depth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The manifest proves every pair was visited — not read carefully. An agent can skim, write thin findings, tick the row.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A5D00"/>
                </a:solidFill>
                <a:latin typeface="Segoe UI"/>
              </a:rPr>
              <a:t>The box says “done”, not “done well”.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45920"/>
            <a:ext cx="3566160" cy="82296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15967" y="164592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Quote checks ≠ recall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Scripts catch fabricated evidence. They cannot catch an omitted finding — the tone shift the model never noticed.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A5D00"/>
                </a:solidFill>
                <a:latin typeface="Segoe UI"/>
              </a:rPr>
              <a:t>There is no script for “what’s missing”.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7" y="1645920"/>
            <a:ext cx="3566160" cy="82296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65006" y="164592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Compliance is probabilistic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Agents drift: skipped steps, buggy extraction scripts, optimistic “complete”. First runs hit snags.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A5D00"/>
                </a:solidFill>
                <a:latin typeface="Segoe UI"/>
              </a:rPr>
              <a:t>Expect run → fix → resume (cheap: stages are files).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5006" y="1645920"/>
            <a:ext cx="3566160" cy="82296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5074920"/>
            <a:ext cx="11057839" cy="777240"/>
          </a:xfrm>
          <a:prstGeom prst="roundRect">
            <a:avLst>
              <a:gd name="adj" fmla="val 6000"/>
            </a:avLst>
          </a:prstGeom>
          <a:solidFill>
            <a:srgbClr val="0E6B4A"/>
          </a:solidFill>
          <a:ln>
            <a:noFill/>
          </a:ln>
          <a:effectLst/>
        </p:spPr>
        <p:txBody>
          <a:bodyPr rtlCol="0" anchor="ctr" wrap="square" lIns="128016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The final control is unchanged: an expert economist. </a:t>
            </a:r>
            <a:r>
              <a:rPr sz="1350" b="0" i="0">
                <a:solidFill>
                  <a:srgbClr val="FFFFFF"/>
                </a:solidFill>
                <a:latin typeface="Segoe UI"/>
              </a:rPr>
              <a:t>AI widens recall; the human supplies judgment and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FIELD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Practical lessons from the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Digital PDFs need no OCR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Born-digital files carry a native text layer — parsing is fast and ~100% accurate. When visual/OCR checks were blocked, the limitation was declared up front, not papered over.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55648"/>
            <a:ext cx="50292" cy="1746504"/>
          </a:xfrm>
          <a:prstGeom prst="rect">
            <a:avLst/>
          </a:prstGeom>
          <a:solidFill>
            <a:srgbClr val="0E6B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64592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Narrow beats broad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One focused command per turn = a sharp retrieval query, a small output that fits the budget, and freshly re-anchored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1755648"/>
            <a:ext cx="50292" cy="17465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379476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Know the billing unit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Copilot charges per chat message (premium request), not per token — so the efficient pattern is few, well-loaded turns.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904488"/>
            <a:ext cx="50292" cy="1746504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0488" y="379476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txBody>
          <a:bodyPr rtlCol="0" anchor="ctr" wrap="square" lIns="201168" rIns="128016" tIns="82296" bIns="8229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Leave a trail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Save prompts, dates, model/tool versions, inputs, outputs. Findings that aren’t stable across runs get extra human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3904488"/>
            <a:ext cx="50292" cy="1746504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292608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8404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Segoe UI"/>
              </a:rPr>
              <a:t>If you remember four things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737360"/>
            <a:ext cx="502920" cy="502920"/>
          </a:xfrm>
          <a:prstGeom prst="ellipse">
            <a:avLst/>
          </a:prstGeom>
          <a:solidFill>
            <a:srgbClr val="5598E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691640"/>
            <a:ext cx="102805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Chat AI is a smart skimmer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Great for orientation and drafting — unsafe as the basis for “we found everything”.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816352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770632"/>
            <a:ext cx="102805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Harnesses make thoroughness possible, not automatic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Left to its own judgment an agent satisfices; structure has to force coverage.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895344"/>
            <a:ext cx="502920" cy="502920"/>
          </a:xfrm>
          <a:prstGeom prst="ellipse">
            <a:avLst/>
          </a:prstGeom>
          <a:solidFill>
            <a:srgbClr val="1C5CA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849624"/>
            <a:ext cx="102805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Tune the first pass for recall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A missed material change costs far more than a false alarm; human review restores precision.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974336"/>
            <a:ext cx="502920" cy="502920"/>
          </a:xfrm>
          <a:prstGeom prst="ellipse">
            <a:avLst/>
          </a:prstGeom>
          <a:solidFill>
            <a:srgbClr val="10428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4928616"/>
            <a:ext cx="102805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Auditability is the product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Ledger, manifest and logs turn an opaque answer into a review someone can check — and defend.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AI document comparison · IMF Policy Note vs Staff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5105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